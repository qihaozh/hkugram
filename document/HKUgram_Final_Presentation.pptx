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8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COMP3278 DATABASE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7899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HKUGRAM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8745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APPLICATION WITH RELATIONAL DESIGN, TEXT-TO-SQL, VISUAL ANALYTICS, AND LOCAL DEPLOYMENT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78040" y="1005840"/>
            <a:ext cx="3291840" cy="0"/>
          </a:xfrm>
          <a:prstGeom prst="line">
            <a:avLst/>
          </a:prstGeom>
          <a:noFill/>
          <a:ln w="12700">
            <a:solidFill>
              <a:srgbClr val="6E5920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1005840"/>
            <a:ext cx="0" cy="2651760"/>
          </a:xfrm>
          <a:prstGeom prst="line">
            <a:avLst/>
          </a:prstGeom>
          <a:noFill/>
          <a:ln w="12700">
            <a:solidFill>
              <a:srgbClr val="6E5920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69880" y="1005840"/>
            <a:ext cx="0" cy="2651760"/>
          </a:xfrm>
          <a:prstGeom prst="line">
            <a:avLst/>
          </a:prstGeom>
          <a:noFill/>
          <a:ln w="12700">
            <a:solidFill>
              <a:srgbClr val="6E592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1298448"/>
            <a:ext cx="4389120" cy="2926080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85432" y="146304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85432" y="1463040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07624" y="4059936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45368" y="3858768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0296" y="146304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SCOPE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22008" y="1801368"/>
            <a:ext cx="398678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1920240"/>
            <a:ext cx="3895344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tables for users, posts, likes, comments, follows, and view history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SQL endpoint plus guided text-to-SQL prompts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 Deco React UI for feed, profile, publishing, and analytics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deployment with frontend, backend, and MySQL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" y="4754880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08176" y="47823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2: Social Media Application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" y="5321808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4132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08176" y="53492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requirement coverage with bonus concurrency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6384" y="588873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98017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08176" y="5916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deck under the 10-slide limit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6071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 names and final workload split can be inserted on Slide 8 before submission.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64592"/>
            <a:ext cx="11823192" cy="647395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74320"/>
            <a:ext cx="11603736" cy="6254496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515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801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9144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8346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772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3891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4008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594360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5029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49808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57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90525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286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06070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914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21615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-457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0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REQUIREMENT MAPPING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10881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brief: relational tables, SQL/Text-to-SQL, UI visualization, and deployment.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4206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1417320"/>
            <a:ext cx="10972800" cy="0"/>
          </a:xfrm>
          <a:prstGeom prst="line">
            <a:avLst/>
          </a:prstGeom>
          <a:noFill/>
          <a:ln w="12700">
            <a:solidFill>
              <a:srgbClr val="6E5920">
                <a:alpha val="7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1783080"/>
            <a:ext cx="2651760" cy="530352"/>
          </a:xfrm>
          <a:prstGeom prst="rect">
            <a:avLst/>
          </a:prstGeom>
          <a:solidFill>
            <a:srgbClr val="1E3D59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93008" y="1783080"/>
            <a:ext cx="7982712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1920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database tables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75888" y="19110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MySQL tables with foreign keys, uniqueness rules, and timestamps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749808" y="2496312"/>
            <a:ext cx="2651760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3008" y="2496312"/>
            <a:ext cx="7982712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2633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/ Text-to-SQL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75888" y="262432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/query/sql and mapped /query/text-to-sql prompts for live demos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209544"/>
            <a:ext cx="2651760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93008" y="3209544"/>
            <a:ext cx="7982712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3346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for visualization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75888" y="33375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pages for feed, profile, history, analytics, and publishing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49808" y="3922776"/>
            <a:ext cx="2651760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93008" y="3922776"/>
            <a:ext cx="7982712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40599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deployment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75888" y="405079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launches frontend, backend, and MySQL locally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636008"/>
            <a:ext cx="2651760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93008" y="4636008"/>
            <a:ext cx="7982712" cy="53035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" y="47731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scope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75888" y="476402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upload, comments, follow graph, popularity ranking, and concurrency-safe intents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41248" y="543153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8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repo already satisfies the technical scope, so the remaining work is presentation polish, team attribution, and demo capture.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9536" y="57424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Frontend production build passed locally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Backend source compiles successfully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Compose file resolves into a valid 3-service stack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64592"/>
            <a:ext cx="11823192" cy="647395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74320"/>
            <a:ext cx="11603736" cy="6254496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515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801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9144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8346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772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3891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4008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594360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5029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49808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57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90525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286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06070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914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21615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-457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0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10881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backend are separated cleanly and communicate through REST APIs.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4206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1417320"/>
            <a:ext cx="10972800" cy="0"/>
          </a:xfrm>
          <a:prstGeom prst="line">
            <a:avLst/>
          </a:prstGeom>
          <a:noFill/>
          <a:ln w="12700">
            <a:solidFill>
              <a:srgbClr val="6E5920">
                <a:alpha val="78000"/>
              </a:srgbClr>
            </a:solidFill>
            <a:prstDash val="solid"/>
          </a:ln>
        </p:spPr>
      </p:sp>
      <p:pic>
        <p:nvPicPr>
          <p:cNvPr id="27" name="Image 0" descr="C:\Users\User\Desktop\COMP3278\GroupProject\document\presentation\assets\archite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783080"/>
            <a:ext cx="10515600" cy="36118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896112" y="5577840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976" y="566928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517904" y="56052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handles client routing, page composition, and interaction state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96112" y="5916168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0976" y="60076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517904" y="5943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exposes auth, user, post, analytics, and query services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96112" y="625449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0976" y="63459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517904" y="62819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stores normalized social data with foreign-key constraints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64592"/>
            <a:ext cx="11823192" cy="647395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74320"/>
            <a:ext cx="11603736" cy="6254496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515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801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9144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8346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772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3891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4008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594360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5029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49808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57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90525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286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06070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914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21615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-457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0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DESIGN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10881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schema supports both social interactions and analytics queries.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4206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1417320"/>
            <a:ext cx="10972800" cy="0"/>
          </a:xfrm>
          <a:prstGeom prst="line">
            <a:avLst/>
          </a:prstGeom>
          <a:noFill/>
          <a:ln w="12700">
            <a:solidFill>
              <a:srgbClr val="6E5920">
                <a:alpha val="7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1783080"/>
            <a:ext cx="1874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50976" y="194767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94767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58568" y="278892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96312" y="258775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194767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87552" y="2286000"/>
            <a:ext cx="147218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" y="2404872"/>
            <a:ext cx="1380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 UNIQUE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password_hash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07792" y="1783080"/>
            <a:ext cx="192024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072384" y="194767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72384" y="194767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25696" y="278892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58775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27248" y="19476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108960" y="2286000"/>
            <a:ext cx="151790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2404872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 id, FK 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category, 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image_url + 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84064" y="1783080"/>
            <a:ext cx="1664208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248656" y="194767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48656" y="194767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45936" y="278892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258775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0" y="194767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285232" y="2286000"/>
            <a:ext cx="1261872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30952" y="2404872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post_id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pair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86016" y="1783080"/>
            <a:ext cx="1865376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150608" y="194767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50608" y="194767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49056" y="278892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86800" y="258775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05472" y="19476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187184" y="2286000"/>
            <a:ext cx="1463040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32904" y="240487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post_id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body, created_at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089136" y="1783080"/>
            <a:ext cx="2121408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253728" y="194767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53728" y="194767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808208" y="278892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45952" y="258775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08592" y="194767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HISTORY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9290304" y="2286000"/>
            <a:ext cx="1719072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36024" y="2404872"/>
            <a:ext cx="1627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post_id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viewed_at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187952" y="3703320"/>
            <a:ext cx="21031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352544" y="386791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52544" y="386791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88736" y="470916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26480" y="450799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07408" y="386791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FOLLOWS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4389120" y="4206240"/>
            <a:ext cx="170078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34840" y="4325112"/>
            <a:ext cx="1609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pair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660904" y="2368296"/>
            <a:ext cx="246888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28032" y="2368296"/>
            <a:ext cx="256032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48272" y="2368296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51392" y="2368296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19072" y="2953512"/>
            <a:ext cx="3511296" cy="74980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867912" y="2953512"/>
            <a:ext cx="1362456" cy="74980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77824" y="52303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constraints: username is unique; like/follow/history tables prevent duplicate user-post or user-user pairs; timestamps support sorting and analytics.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77824" y="570585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2688" y="57972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499616" y="57332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1-to-many: users to posts, likes, comments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77824" y="598017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32688" y="60716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499616" y="60076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many-to-many resolved through likes and follows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77824" y="625449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32688" y="63459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499616" y="62819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table supports personalized browsing record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64592"/>
            <a:ext cx="11823192" cy="647395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74320"/>
            <a:ext cx="11603736" cy="6254496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515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801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9144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8346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772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3891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4008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594360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5029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49808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57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90525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286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06070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914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21615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-457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0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AND TEXT-TO-SQL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10881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course requires database querying; HKUgram supports both direct SQL and guided natural language prompts.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4206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1417320"/>
            <a:ext cx="10972800" cy="0"/>
          </a:xfrm>
          <a:prstGeom prst="line">
            <a:avLst/>
          </a:prstGeom>
          <a:noFill/>
          <a:ln w="12700">
            <a:solidFill>
              <a:srgbClr val="6E5920">
                <a:alpha val="78000"/>
              </a:srgbClr>
            </a:solidFill>
            <a:prstDash val="solid"/>
          </a:ln>
        </p:spPr>
      </p:sp>
      <p:pic>
        <p:nvPicPr>
          <p:cNvPr id="27" name="Image 0" descr="C:\Users\User\Desktop\COMP3278\GroupProject\document\presentation\assets\query-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1737360"/>
            <a:ext cx="10698480" cy="24688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822960" y="4526280"/>
            <a:ext cx="374904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87552" y="469087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87552" y="469087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69664" y="5916168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07408" y="5715000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42416" y="46908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 DEMO PROMPTS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1024128" y="5029200"/>
            <a:ext cx="334670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9848" y="5148072"/>
            <a:ext cx="3255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liked posts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active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posts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 for post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by user tianxing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36592" y="4526280"/>
            <a:ext cx="301752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901184" y="469087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01184" y="469087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51776" y="5916168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589520" y="5715000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56048" y="46908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RULES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4937760" y="5029200"/>
            <a:ext cx="261518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83480" y="514807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statement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SQL patterns rejected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parameterized execution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18704" y="4526280"/>
            <a:ext cx="329184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8083296" y="469087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083296" y="469087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808208" y="5916168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1045952" y="5715000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138160" y="46908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8119872" y="5029200"/>
            <a:ext cx="288950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165592" y="5148072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direct SQL understanding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a simple NL interface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the analytics demo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64592"/>
            <a:ext cx="11823192" cy="647395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74320"/>
            <a:ext cx="11603736" cy="6254496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515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801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9144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8346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772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3891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4008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594360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5029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49808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57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90525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286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06070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914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21615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-457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0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DECO INTERFACE DESIGN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10881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follows the project prompt: geometric frames, gold-on-black contrast, and responsive cards.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4206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1417320"/>
            <a:ext cx="10972800" cy="0"/>
          </a:xfrm>
          <a:prstGeom prst="line">
            <a:avLst/>
          </a:prstGeom>
          <a:noFill/>
          <a:ln w="12700">
            <a:solidFill>
              <a:srgbClr val="6E5920">
                <a:alpha val="7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1901952"/>
            <a:ext cx="2697480" cy="333756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3272" y="2084832"/>
            <a:ext cx="2368296" cy="310896"/>
          </a:xfrm>
          <a:prstGeom prst="rect">
            <a:avLst/>
          </a:prstGeom>
          <a:solidFill>
            <a:srgbClr val="1E3D59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21579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79576" y="2615184"/>
            <a:ext cx="2066544" cy="1024128"/>
          </a:xfrm>
          <a:prstGeom prst="rect">
            <a:avLst/>
          </a:prstGeom>
          <a:solidFill>
            <a:srgbClr val="0A0A0A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71016" y="2761488"/>
            <a:ext cx="1883664" cy="0"/>
          </a:xfrm>
          <a:prstGeom prst="line">
            <a:avLst/>
          </a:prstGeom>
          <a:noFill/>
          <a:ln w="12700">
            <a:solidFill>
              <a:srgbClr val="D4AF37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71016" y="2926080"/>
            <a:ext cx="1463040" cy="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71016" y="3090672"/>
            <a:ext cx="1737360" cy="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4712" y="3858768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9576" y="39502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46504" y="3886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/ Popular sorting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124712" y="4169664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9576" y="42611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746504" y="41970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tabs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24712" y="4480560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79576" y="45720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46504" y="45079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Image-first social cards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124712" y="479145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79576" y="48828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746504" y="48188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 and thread drawer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096512" y="1901952"/>
            <a:ext cx="2697480" cy="333756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61104" y="2084832"/>
            <a:ext cx="2368296" cy="310896"/>
          </a:xfrm>
          <a:prstGeom prst="rect">
            <a:avLst/>
          </a:prstGeom>
          <a:solidFill>
            <a:srgbClr val="1E3D59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70832" y="21579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07408" y="2615184"/>
            <a:ext cx="2066544" cy="1024128"/>
          </a:xfrm>
          <a:prstGeom prst="rect">
            <a:avLst/>
          </a:prstGeom>
          <a:solidFill>
            <a:srgbClr val="0A0A0A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98848" y="2761488"/>
            <a:ext cx="1883664" cy="0"/>
          </a:xfrm>
          <a:prstGeom prst="line">
            <a:avLst/>
          </a:prstGeom>
          <a:noFill/>
          <a:ln w="12700">
            <a:solidFill>
              <a:srgbClr val="D4AF37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98848" y="2926080"/>
            <a:ext cx="1463040" cy="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98848" y="3090672"/>
            <a:ext cx="1737360" cy="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52544" y="3858768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07408" y="39502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74336" y="3886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upload form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352544" y="4169664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07408" y="42611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74336" y="41970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+ category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352544" y="4480560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07408" y="45720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74336" y="45079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feed refresh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352544" y="479145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07408" y="48828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974336" y="48188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dimensions reduce layout shift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324344" y="1901952"/>
            <a:ext cx="2697480" cy="333756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88936" y="2084832"/>
            <a:ext cx="2368296" cy="310896"/>
          </a:xfrm>
          <a:prstGeom prst="rect">
            <a:avLst/>
          </a:prstGeom>
          <a:solidFill>
            <a:srgbClr val="1E3D59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98664" y="21579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635240" y="2615184"/>
            <a:ext cx="2066544" cy="1024128"/>
          </a:xfrm>
          <a:prstGeom prst="rect">
            <a:avLst/>
          </a:prstGeom>
          <a:solidFill>
            <a:srgbClr val="0A0A0A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26680" y="2761488"/>
            <a:ext cx="1883664" cy="0"/>
          </a:xfrm>
          <a:prstGeom prst="line">
            <a:avLst/>
          </a:prstGeom>
          <a:noFill/>
          <a:ln w="12700">
            <a:solidFill>
              <a:srgbClr val="D4AF37">
                <a:alpha val="5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926080"/>
            <a:ext cx="1463040" cy="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090672"/>
            <a:ext cx="1737360" cy="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80376" y="3858768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35240" y="39502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202168" y="3886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metrics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580376" y="4169664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35240" y="42611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202168" y="41970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posts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580376" y="4480560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635240" y="45720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202168" y="45079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active creators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580376" y="479145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35240" y="48828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202168" y="48188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Admin-style ranking view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96112" y="55412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tokens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1874520" y="5532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Obsidian black background, metallic gold borders, champagne body text, uppercase display headers, sharp rectangular framing, and subtle geometric line texture.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64592"/>
            <a:ext cx="11823192" cy="647395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74320"/>
            <a:ext cx="11603736" cy="6254496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515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801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9144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8346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772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3891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4008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594360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5029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49808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57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90525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286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06070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914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21615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-457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0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DEPLOYMENT, VALIDATION, AND BONUS ROBUSTNESS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10881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can be run locally as a website, which satisfies the assignment requirement.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4206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1417320"/>
            <a:ext cx="10972800" cy="0"/>
          </a:xfrm>
          <a:prstGeom prst="line">
            <a:avLst/>
          </a:prstGeom>
          <a:noFill/>
          <a:ln w="12700">
            <a:solidFill>
              <a:srgbClr val="6E5920">
                <a:alpha val="7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1755648"/>
            <a:ext cx="3429000" cy="2148840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7552" y="192024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1920240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9624" y="3739896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87368" y="3538728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192024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STACK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24128" y="2258568"/>
            <a:ext cx="302666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2377440"/>
            <a:ext cx="2935224" cy="100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db: mysql:8.4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backend: FastAPI + SQLAlchemy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 Vite dev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ports 3306 / 8000 / 5173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07408" y="1755648"/>
            <a:ext cx="3429000" cy="2148840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192024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1920240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34072" y="3739896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71816" y="3538728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6864" y="192024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VERIFICATION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608576" y="2258568"/>
            <a:ext cx="302666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4296" y="2377440"/>
            <a:ext cx="2935224" cy="100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-m compileall backend/app backend/scripts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config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991856" y="1755648"/>
            <a:ext cx="3383280" cy="2148840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56448" y="1920240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56448" y="1920240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972800" y="3739896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210544" y="3538728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11312" y="19202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ENGINEERING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193024" y="2258568"/>
            <a:ext cx="298094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38744" y="2377440"/>
            <a:ext cx="2889504" cy="1169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like/unlike and follow/unfollow intents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concurrency check 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dimension persistence for smoother rendering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188720" y="4572000"/>
            <a:ext cx="2011680" cy="658368"/>
          </a:xfrm>
          <a:prstGeom prst="chevron">
            <a:avLst/>
          </a:prstGeom>
          <a:solidFill>
            <a:srgbClr val="1E3D59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53312" y="47823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Compose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703320" y="4572000"/>
            <a:ext cx="2011680" cy="658368"/>
          </a:xfrm>
          <a:prstGeom prst="chevron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0" y="4782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Web UI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4572000"/>
            <a:ext cx="2011680" cy="658368"/>
          </a:xfrm>
          <a:prstGeom prst="chevron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37376" y="47823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Run Demo Flow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732520" y="4572000"/>
            <a:ext cx="2011680" cy="658368"/>
          </a:xfrm>
          <a:prstGeom prst="chevron">
            <a:avLst/>
          </a:prstGeom>
          <a:solidFill>
            <a:srgbClr val="1E3D59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79408" y="4782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Record Video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561441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8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live demo: register/login, publish a post, like/comment, open profile, show browsing history, then show analytics and a text-to-SQL prompt.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64592"/>
            <a:ext cx="11823192" cy="647395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74320"/>
            <a:ext cx="11603736" cy="6254496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515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801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9144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8346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772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3891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4008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594360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5029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49808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576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905256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2860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060704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9144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2161520" y="164592"/>
            <a:ext cx="2011680" cy="2011680"/>
          </a:xfrm>
          <a:prstGeom prst="line">
            <a:avLst/>
          </a:prstGeom>
          <a:noFill/>
          <a:ln w="12700">
            <a:solidFill>
              <a:srgbClr val="6E5920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-457200" y="4754880"/>
            <a:ext cx="1920240" cy="1920240"/>
          </a:xfrm>
          <a:prstGeom prst="line">
            <a:avLst/>
          </a:prstGeom>
          <a:noFill/>
          <a:ln w="12700">
            <a:solidFill>
              <a:srgbClr val="6E592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0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AND WORK DISTRIBUTION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10881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is ready for the team to finalize with real names before submission.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4206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1417320"/>
            <a:ext cx="10972800" cy="0"/>
          </a:xfrm>
          <a:prstGeom prst="line">
            <a:avLst/>
          </a:prstGeom>
          <a:noFill/>
          <a:ln w="12700">
            <a:solidFill>
              <a:srgbClr val="6E5920">
                <a:alpha val="7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1737360"/>
            <a:ext cx="4892040" cy="3611880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7552" y="1901952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1901952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12664" y="5184648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0408" y="4983480"/>
            <a:ext cx="0" cy="20116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19019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GROUP WORKED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24128" y="2240280"/>
            <a:ext cx="4489704" cy="0"/>
          </a:xfrm>
          <a:prstGeom prst="line">
            <a:avLst/>
          </a:prstGeom>
          <a:noFill/>
          <a:ln w="12700">
            <a:solidFill>
              <a:srgbClr val="6E5920">
                <a:alpha val="7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2359152"/>
            <a:ext cx="4398264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Git-based workflow with version updates recorded in VERSION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and frontend delivered one core function at a time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and testing artifacts stored under document/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kept reproducible through Docker Compose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 artifacts generated from repository state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08192" y="18105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WITH REAL NAMES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16752" y="2148840"/>
            <a:ext cx="1353312" cy="438912"/>
          </a:xfrm>
          <a:prstGeom prst="rect">
            <a:avLst/>
          </a:prstGeom>
          <a:solidFill>
            <a:srgbClr val="1E3D59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148840"/>
            <a:ext cx="3822192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227685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62672" y="2276856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schema, ER model, seed data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016752" y="2752344"/>
            <a:ext cx="1353312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2752344"/>
            <a:ext cx="3822192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288036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B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62672" y="2880360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API and SQL/Text-to-SQL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016752" y="3355848"/>
            <a:ext cx="1353312" cy="438912"/>
          </a:xfrm>
          <a:prstGeom prst="rect">
            <a:avLst/>
          </a:prstGeom>
          <a:solidFill>
            <a:srgbClr val="1E3D59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3355848"/>
            <a:ext cx="3822192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348386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C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662672" y="348386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UI and user flows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6016752" y="3959352"/>
            <a:ext cx="1353312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8080" y="3959352"/>
            <a:ext cx="3822192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3056" y="408736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62672" y="4087368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Deployment, testing, and demo video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6016752" y="4562856"/>
            <a:ext cx="1353312" cy="438912"/>
          </a:xfrm>
          <a:prstGeom prst="rect">
            <a:avLst/>
          </a:prstGeom>
          <a:solidFill>
            <a:srgbClr val="1E3D59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98080" y="4562856"/>
            <a:ext cx="3822192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6E59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469087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62672" y="4690872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Slides, presentation script, and polish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6172200" y="5504688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27064" y="55961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93992" y="55321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Member A-E with the actual names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172200" y="5797296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27064" y="58887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793992" y="58247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contribution split to match real work done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72200" y="6089904"/>
            <a:ext cx="457200" cy="4572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27064" y="618134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93992" y="61173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slide concise during the 8-minute talk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HKU COMP3278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HKUgram - COMP3278 Final Presentation</dc:title>
  <dc:subject>HKUgram final presentation</dc:subject>
  <dc:creator>OpenAI Codex</dc:creator>
  <cp:lastModifiedBy>OpenAI Codex</cp:lastModifiedBy>
  <cp:revision>1</cp:revision>
  <dcterms:created xsi:type="dcterms:W3CDTF">2026-04-15T13:04:32Z</dcterms:created>
  <dcterms:modified xsi:type="dcterms:W3CDTF">2026-04-15T13:04:32Z</dcterms:modified>
</cp:coreProperties>
</file>